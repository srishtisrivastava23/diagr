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Microsoft OneLake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23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BEDCF5"/>
                </a:solidFill>
                <a:latin typeface="Aptos"/>
              </a:defRPr>
            </a:pPr>
            <a:r>
              <a:t>The Unified Data Lake for Microsoft Fabric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03320"/>
            <a:ext cx="32918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703320"/>
            <a:ext cx="64008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867911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315968"/>
            <a:ext cx="29260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What is OneLake?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03320"/>
            <a:ext cx="32918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703320"/>
            <a:ext cx="64008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3867911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4315968"/>
            <a:ext cx="29260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Why do we need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703320"/>
            <a:ext cx="32918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3703320"/>
            <a:ext cx="64008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3867911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4315968"/>
            <a:ext cx="29260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Architecture &amp; key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What is OneLake?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A unified data foundation for the entire organization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429768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4297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2A44"/>
                </a:solidFill>
                <a:latin typeface="Aptos"/>
              </a:defRPr>
            </a:pPr>
            <a:r>
              <a:t>Unified data 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21408"/>
            <a:ext cx="4846320" cy="3547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>
                <a:solidFill>
                  <a:srgbClr val="232D37"/>
                </a:solidFill>
                <a:latin typeface="Aptos"/>
              </a:defRPr>
            </a:pPr>
            <a:r>
              <a:t>Microsoft OneLake is a unified data lake for the whole organization. Every Microsoft Fabric tenant automatically includes one OneLake.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2423160" cy="1874519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64008" cy="1874519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73351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ONE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121408"/>
            <a:ext cx="205740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A central place for analytics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508760"/>
            <a:ext cx="2423160" cy="1874519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508760"/>
            <a:ext cx="64008" cy="1874519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8" y="1673351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OPEN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121408"/>
            <a:ext cx="205740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Built on Azure Data Lake Storage and uses open table formats.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2423160" cy="1874519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03320"/>
            <a:ext cx="64008" cy="1874519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867911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315968"/>
            <a:ext cx="205740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Store, manage and govern data for analytics and AI.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3703320"/>
            <a:ext cx="2423160" cy="1874519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3703320"/>
            <a:ext cx="64008" cy="1874519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3867911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NO PROVISIONING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15968"/>
            <a:ext cx="2057400" cy="1124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OneLake is included with the Fabric tenant.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Why Do We Need OneLake?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The problem: fragmented data and duplicated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7432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Data silos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23774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Different departments can maintain separate data lakes and storage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27432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64008" cy="1828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850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133088"/>
            <a:ext cx="23774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The same dataset may be copied for different teams or workloads.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417320"/>
            <a:ext cx="27432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417320"/>
            <a:ext cx="64008" cy="1828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158191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Data movement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029968"/>
            <a:ext cx="23774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Repeated copying and movement can add complexity to analytics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520440"/>
            <a:ext cx="27432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1880" y="352044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36850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Management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4133088"/>
            <a:ext cx="23774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Multiple storage environments create additional administration and maintenance.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1600200"/>
            <a:ext cx="4480560" cy="3474720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965960"/>
            <a:ext cx="3840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OneLake</a:t>
            </a:r>
          </a:p>
          <a:p>
            <a:pPr algn="ctr">
              <a:spcBef>
                <a:spcPts val="1600"/>
              </a:spcBef>
              <a:defRPr sz="1800">
                <a:solidFill>
                  <a:srgbClr val="DCEBFA"/>
                </a:solidFill>
              </a:defRPr>
            </a:pPr>
            <a:r>
              <a:t>One central data foundation</a:t>
            </a:r>
          </a:p>
          <a:p>
            <a:pPr algn="ctr">
              <a:spcBef>
                <a:spcPts val="1600"/>
              </a:spcBef>
              <a:defRPr sz="1800">
                <a:solidFill>
                  <a:srgbClr val="DCEBFA"/>
                </a:solidFill>
              </a:defRPr>
            </a:pPr>
            <a:r>
              <a:t>Distributed team ownership</a:t>
            </a:r>
          </a:p>
          <a:p>
            <a:pPr algn="ctr">
              <a:spcBef>
                <a:spcPts val="1600"/>
              </a:spcBef>
              <a:defRPr sz="1800">
                <a:solidFill>
                  <a:srgbClr val="DCEBFA"/>
                </a:solidFill>
              </a:defRPr>
            </a:pPr>
            <a:r>
              <a:t>Common access point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OneLake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Tenant → OneLake → Workspaces → Data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9202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40280"/>
            <a:ext cx="64008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FABRIC 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52928"/>
            <a:ext cx="15544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Organization-level environment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816352"/>
            <a:ext cx="54864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2057400"/>
            <a:ext cx="20574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2057400"/>
            <a:ext cx="64008" cy="1508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222199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ONELAKE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670048"/>
            <a:ext cx="169164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Unified logical data lake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2080" y="2816352"/>
            <a:ext cx="50292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15000" y="1234440"/>
            <a:ext cx="23774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0" y="1234440"/>
            <a:ext cx="64008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139903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WORKSPACE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1847088"/>
            <a:ext cx="20116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Team / project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2743200"/>
            <a:ext cx="23774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2743200"/>
            <a:ext cx="64008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16168" y="290779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WORKSPACE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3355848"/>
            <a:ext cx="20116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Team / project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4251960"/>
            <a:ext cx="23774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4251960"/>
            <a:ext cx="64008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16168" y="44165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WORKSPACE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6168" y="4864608"/>
            <a:ext cx="20116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Team / project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92440" y="1810512"/>
            <a:ext cx="457200" cy="246888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092440" y="3310128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092440" y="4526280"/>
            <a:ext cx="457200" cy="292608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49640" y="1234440"/>
            <a:ext cx="28346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9640" y="1234440"/>
            <a:ext cx="64008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0808" y="139903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DATA 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1847088"/>
            <a:ext cx="24688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Lakehouses • Warehouses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2743200"/>
            <a:ext cx="28346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9640" y="2743200"/>
            <a:ext cx="64008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0808" y="290779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DATA ITEMS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0808" y="3355848"/>
            <a:ext cx="24688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Eventhouses • KQL databases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9640" y="4251960"/>
            <a:ext cx="283464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49640" y="4251960"/>
            <a:ext cx="64008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0808" y="441655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FABRIC WORKLOADS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0808" y="4864608"/>
            <a:ext cx="246888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Analytics, engineering, BI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How OneLake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A common storage layer built for Fabric workloads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15468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1. Storage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278892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OneLake is built on Azure Data Lake Storage and provides the storage foundation for Fabric.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15468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64008" cy="1828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58191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2. Open table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029968"/>
            <a:ext cx="278892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Data can be stored in open formats such as Delta Parquet and Apache Iceberg.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15468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58191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3. Multiple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029968"/>
            <a:ext cx="278892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Fabric engines such as SQL and Spark can work with data in OneLake.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794760"/>
            <a:ext cx="3154680" cy="164592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3794760"/>
            <a:ext cx="64008" cy="164592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07208" y="395935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4. 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4407408"/>
            <a:ext cx="278892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OneLake can be accessed through Fabric and supported Azure tools and APIs.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94760"/>
            <a:ext cx="3154680" cy="164592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64008" cy="1645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95935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5. Govern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407408"/>
            <a:ext cx="278892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Security, cataloging, monitoring and protection capabilities apply across the data foundation.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One Copy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Different analytical engines can work with the same underlying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057400"/>
            <a:ext cx="3474720" cy="1508760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ONE COPY OF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46888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64008" cy="1508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T-SQL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210312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Query and analyze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600200"/>
            <a:ext cx="246888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98280" y="1600200"/>
            <a:ext cx="64008" cy="1508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176479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A44"/>
                </a:solidFill>
                <a:latin typeface="Aptos"/>
              </a:defRPr>
            </a:pPr>
            <a:r>
              <a:t>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2212848"/>
            <a:ext cx="210312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Process and analyze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251960"/>
            <a:ext cx="3383280" cy="123444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251960"/>
            <a:ext cx="64008" cy="12344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44165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864608"/>
            <a:ext cx="3017520" cy="4846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Direct Lake can use OneLake data without making a separate copy.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63240" y="2331720"/>
            <a:ext cx="1280160" cy="36576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818120" y="2331720"/>
            <a:ext cx="1280160" cy="36576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3566160"/>
            <a:ext cx="0" cy="68580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840" y="5715000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646E78"/>
                </a:solidFill>
              </a:defRPr>
            </a:pPr>
            <a:r>
              <a:t>Goal: reduce unnecessary duplication and let multiple workloads work with the same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OneLake Shortcuts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A shortcut references data stored somewhere else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880360" cy="361188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3611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A44"/>
                </a:solidFill>
                <a:latin typeface="Aptos"/>
              </a:defRPr>
            </a:pPr>
            <a:r>
              <a:t>SOURCE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21408"/>
            <a:ext cx="2514600" cy="2862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Examples include:</a:t>
            </a:r>
            <a:br/>
            <a:br/>
            <a:r>
              <a:t>• OneLake</a:t>
            </a:r>
            <a:br/>
            <a:r>
              <a:t>• ADLS Gen2</a:t>
            </a:r>
            <a:br/>
            <a:r>
              <a:t>• Azure Blob Storage</a:t>
            </a:r>
            <a:br/>
            <a:r>
              <a:t>• Amazon S3</a:t>
            </a:r>
            <a:br/>
            <a:r>
              <a:t>• Dataverse</a:t>
            </a:r>
            <a:br/>
            <a:r>
              <a:t>• Other supported sources</a:t>
            </a:r>
          </a:p>
        </p:txBody>
      </p:sp>
      <p:sp>
        <p:nvSpPr>
          <p:cNvPr id="9" name="Chevron 8"/>
          <p:cNvSpPr/>
          <p:nvPr/>
        </p:nvSpPr>
        <p:spPr>
          <a:xfrm>
            <a:off x="3886200" y="2423160"/>
            <a:ext cx="1508760" cy="1417320"/>
          </a:xfrm>
          <a:prstGeom prst="chevron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2761488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SHORTCUT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508760"/>
            <a:ext cx="2880360" cy="361188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1508760"/>
            <a:ext cx="64008" cy="36118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7" y="1673351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A44"/>
                </a:solidFill>
                <a:latin typeface="Aptos"/>
              </a:defRPr>
            </a:pPr>
            <a:r>
              <a:t>ONELAKE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7" y="2121408"/>
            <a:ext cx="2514600" cy="2862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The shortcut appears in the destination location while the referenced data remains at its source.</a:t>
            </a:r>
            <a:br/>
            <a:br/>
            <a:r>
              <a:t>This helps unify access without traditional copying.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08760"/>
            <a:ext cx="2514600" cy="361188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508760"/>
            <a:ext cx="64008" cy="3611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167335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A44"/>
                </a:solidFill>
                <a:latin typeface="Aptos"/>
              </a:defRPr>
            </a:pPr>
            <a:r>
              <a:t>WHY USE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2121408"/>
            <a:ext cx="2148840" cy="2862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• Reduce unnecessary copies</a:t>
            </a:r>
            <a:br/>
            <a:r>
              <a:t>• Connect data across locations</a:t>
            </a:r>
            <a:br/>
            <a:r>
              <a:t>• Reuse existing data</a:t>
            </a:r>
            <a:br/>
            <a:r>
              <a:t>• Source changes can be visible through the shortcut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Protect data while keeping it discoverable and manageable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29000" cy="40233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64008" cy="4023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2A44"/>
                </a:solidFill>
                <a:latin typeface="Aptos"/>
              </a:defRPr>
            </a:pPr>
            <a:r>
              <a:t>Granular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063240" cy="3273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OneLake security roles can control access at levels such as folders, tables, rows and columns.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29000" cy="40233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64008" cy="40233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2763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2A44"/>
                </a:solidFill>
                <a:latin typeface="Aptos"/>
              </a:defRPr>
            </a:pPr>
            <a:r>
              <a:t>Consistent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63240" cy="3273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Security can be applied across analytical experiences including SQL, Spark and Power BI.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429000" cy="40233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64008" cy="4023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62763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2A44"/>
                </a:solidFill>
                <a:latin typeface="Aptos"/>
              </a:defRPr>
            </a:pPr>
            <a:r>
              <a:t>Catalog &amp;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75688"/>
            <a:ext cx="3063240" cy="3273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OneLake Catalog helps users discover data and understand metadata, ownership, schema, lineage and usage.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How Can We Access OneLake?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OneLake is not limited to the Fabric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600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A44"/>
                </a:solidFill>
                <a:latin typeface="Aptos"/>
              </a:defRPr>
            </a:pPr>
            <a:r>
              <a:t>Microsoft 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2926080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Work with OneLake through Fabric experiences and workloads.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1600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A44"/>
                </a:solidFill>
                <a:latin typeface="Aptos"/>
              </a:defRPr>
            </a:pPr>
            <a:r>
              <a:t>Windows File 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29968"/>
            <a:ext cx="2926080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Access OneLake data through supported Windows integration.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29184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1600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A44"/>
                </a:solidFill>
                <a:latin typeface="Aptos"/>
              </a:defRPr>
            </a:pPr>
            <a:r>
              <a:t>ADLS Gen2 APIs / SDKs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29968"/>
            <a:ext cx="2926080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Use supported APIs and SDKs to access OneLake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657600"/>
            <a:ext cx="329184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3657600"/>
            <a:ext cx="64008" cy="1600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07208" y="3822191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A44"/>
                </a:solidFill>
                <a:latin typeface="Aptos"/>
              </a:defRPr>
            </a:pPr>
            <a:r>
              <a:t>Azure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4270248"/>
            <a:ext cx="2926080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Examples include Synapse and Storage Explorer.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57600"/>
            <a:ext cx="329184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657600"/>
            <a:ext cx="64008" cy="1600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822191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A44"/>
                </a:solidFill>
                <a:latin typeface="Aptos"/>
              </a:defRPr>
            </a:pPr>
            <a:r>
              <a:t>Other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270248"/>
            <a:ext cx="2926080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Supported tools include Databricks and Microsoft Foundry.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Real-World Example: Sales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Illustrative flow showing how the concepts can fit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40280"/>
            <a:ext cx="18288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240280"/>
            <a:ext cx="64008" cy="1508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40487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Sales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852928"/>
            <a:ext cx="146304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Files / DB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2990088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97480" y="2240280"/>
            <a:ext cx="18288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2240280"/>
            <a:ext cx="64008" cy="1508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40487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Customer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852928"/>
            <a:ext cx="146304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Existing storage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6280" y="2990088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83480" y="2240280"/>
            <a:ext cx="18288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240280"/>
            <a:ext cx="64008" cy="1508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240487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OneLake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852928"/>
            <a:ext cx="146304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Lakehouse + shortcuts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12280" y="2990088"/>
            <a:ext cx="54864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60920" y="2240280"/>
            <a:ext cx="18288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240280"/>
            <a:ext cx="64008" cy="1508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40487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852928"/>
            <a:ext cx="146304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SQL / Spark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9720" y="2990088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2240280"/>
            <a:ext cx="18288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2240280"/>
            <a:ext cx="64008" cy="1508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8088" y="240487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4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852928"/>
            <a:ext cx="146304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8912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62A44"/>
                </a:solidFill>
              </a:defRPr>
            </a:pPr>
            <a:r>
              <a:t>The key idea</a:t>
            </a:r>
          </a:p>
          <a:p>
            <a:pPr algn="ctr">
              <a:defRPr sz="1800">
                <a:solidFill>
                  <a:srgbClr val="232D37"/>
                </a:solidFill>
              </a:defRPr>
            </a:pPr>
            <a:r>
              <a:t>OneLake provides the common data foundation, while Fabric workloads can access and analyze the data.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A44"/>
                </a:solidFill>
                <a:latin typeface="Aptos Display"/>
              </a:defRPr>
            </a:pPr>
            <a:r>
              <a:t>Key Benefits of OneLake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E78"/>
                </a:solidFill>
                <a:latin typeface="Aptos"/>
              </a:defRPr>
            </a:pPr>
            <a:r>
              <a:t>What the unified approach brings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Unified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30632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One logical data lake for the organization.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1828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One-copy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029968"/>
            <a:ext cx="30632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Work across analytical engines without unnecessary duplication.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Shortcuts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029968"/>
            <a:ext cx="30632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Reference data in other locations without traditional copying.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4290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28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82219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Open formats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270248"/>
            <a:ext cx="30632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Use open table formats such as Delta Parquet and Apache Iceberg.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657600"/>
            <a:ext cx="34290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65760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82219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270248"/>
            <a:ext cx="30632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Discover, secure and manage organizational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57600"/>
            <a:ext cx="3429000" cy="1828800"/>
          </a:xfrm>
          <a:prstGeom prst="roundRect">
            <a:avLst/>
          </a:prstGeom>
          <a:solidFill>
            <a:srgbClr val="F2F7FC"/>
          </a:solidFill>
          <a:ln>
            <a:solidFill>
              <a:srgbClr val="E0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64008" cy="1828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82219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A44"/>
                </a:solidFill>
                <a:latin typeface="Aptos"/>
              </a:defRPr>
            </a:pPr>
            <a:r>
              <a:t>Protection &amp;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270248"/>
            <a:ext cx="3063240" cy="10789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Built-in data protection options and diagnostics capabilities.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0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OneLake —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AC8DC"/>
                </a:solidFill>
              </a:defRPr>
            </a:pPr>
            <a: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55448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Unified 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AC8DC"/>
                </a:solidFill>
              </a:defRPr>
            </a:pPr>
            <a:r>
              <a:t>ONE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37744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Reduce unnecessary duplication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AC8DC"/>
                </a:solidFill>
              </a:defRPr>
            </a:pPr>
            <a:r>
              <a:t>SHORTCUTS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20040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Connect to existing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AC8DC"/>
                </a:solidFill>
              </a:defRPr>
            </a:pPr>
            <a: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02336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Secure, discover and manage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AC8DC"/>
                </a:solidFill>
              </a:defRPr>
            </a:pPr>
            <a:r>
              <a:t>FABRIC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84632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Support analytics and AI workloads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150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